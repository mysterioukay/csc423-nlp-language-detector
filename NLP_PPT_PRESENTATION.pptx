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E1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FFD700"/>
                </a:solidFill>
              </a:rPr>
              <a:t>Language Identification System</a:t>
            </a:r>
            <a:endParaRPr sz="3600" b="1">
              <a:solidFill>
                <a:srgbClr val="FFD700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160">
                <a:solidFill>
                  <a:srgbClr val="FFFFFF"/>
                </a:solidFill>
              </a:defRPr>
            </a:pPr>
            <a:r>
              <a:t>Maryivy Kibali</a:t>
            </a:r>
          </a:p>
          <a:p>
            <a:pPr>
              <a:defRPr sz="2160">
                <a:solidFill>
                  <a:srgbClr val="FFFFFF"/>
                </a:solidFill>
              </a:defRPr>
            </a:pPr>
            <a:r>
              <a:t>ID: 110062741</a:t>
            </a:r>
          </a:p>
          <a:p>
            <a:pPr>
              <a:defRPr sz="2160">
                <a:solidFill>
                  <a:srgbClr val="FFFFFF"/>
                </a:solidFill>
              </a:defRPr>
            </a:pPr>
            <a:r>
              <a:t>CSC423 Special Topics in NLP</a:t>
            </a:r>
          </a:p>
          <a:p>
            <a:pPr>
              <a:defRPr sz="2160">
                <a:solidFill>
                  <a:srgbClr val="FFFFFF"/>
                </a:solidFill>
              </a:defRPr>
            </a:pPr>
            <a:r>
              <a:t>Lecturer: Jonah Marwa</a:t>
            </a:r>
          </a:p>
          <a:p>
            <a:pPr>
              <a:defRPr sz="2160">
                <a:solidFill>
                  <a:srgbClr val="FFFFFF"/>
                </a:solidFill>
              </a:defRPr>
            </a:pPr>
            <a:r>
              <a:t>11th March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E1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FFD700"/>
                </a:solidFill>
              </a:rPr>
              <a:t>Introduction</a:t>
            </a:r>
            <a:endParaRPr sz="3600" b="1">
              <a:solidFill>
                <a:srgbClr val="FFD700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160">
                <a:solidFill>
                  <a:srgbClr val="FFFFFF"/>
                </a:solidFill>
              </a:defRPr>
            </a:pPr>
            <a:r>
              <a:t>NLP = teaching computers to understand human language</a:t>
            </a:r>
          </a:p>
          <a:p>
            <a:pPr>
              <a:defRPr sz="2160">
                <a:solidFill>
                  <a:srgbClr val="FFFFFF"/>
                </a:solidFill>
              </a:defRPr>
            </a:pPr>
            <a:r>
              <a:t>Kenya uses multiple languages</a:t>
            </a:r>
          </a:p>
          <a:p>
            <a:pPr>
              <a:defRPr sz="2160">
                <a:solidFill>
                  <a:srgbClr val="FFFFFF"/>
                </a:solidFill>
              </a:defRPr>
            </a:pPr>
            <a:r>
              <a:t>Social media mixes languages</a:t>
            </a:r>
          </a:p>
          <a:p>
            <a:pPr>
              <a:defRPr sz="2160">
                <a:solidFill>
                  <a:srgbClr val="FFFFFF"/>
                </a:solidFill>
              </a:defRPr>
            </a:pPr>
            <a:r>
              <a:t>Problem: systems can't detect language</a:t>
            </a:r>
          </a:p>
          <a:p>
            <a:pPr>
              <a:defRPr sz="2160">
                <a:solidFill>
                  <a:srgbClr val="FFFFFF"/>
                </a:solidFill>
              </a:defRPr>
            </a:pPr>
            <a:r>
              <a:t>Solution: automatic detection system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E1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FFD700"/>
                </a:solidFill>
              </a:rPr>
              <a:t>Problem Statement</a:t>
            </a:r>
            <a:endParaRPr sz="3600" b="1">
              <a:solidFill>
                <a:srgbClr val="FFD700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160">
                <a:solidFill>
                  <a:srgbClr val="FFFFFF"/>
                </a:solidFill>
              </a:defRPr>
            </a:pPr>
            <a:r>
              <a:t>Struggles with multilingual short text</a:t>
            </a:r>
          </a:p>
          <a:p>
            <a:pPr>
              <a:defRPr sz="2160">
                <a:solidFill>
                  <a:srgbClr val="FFFFFF"/>
                </a:solidFill>
              </a:defRPr>
            </a:pPr>
            <a:r>
              <a:t>Sheng is code-mixed</a:t>
            </a:r>
          </a:p>
          <a:p>
            <a:pPr>
              <a:defRPr sz="2160">
                <a:solidFill>
                  <a:srgbClr val="FFFFFF"/>
                </a:solidFill>
              </a:defRPr>
            </a:pPr>
            <a:r>
              <a:t>Local languages lack data</a:t>
            </a:r>
          </a:p>
          <a:p>
            <a:pPr>
              <a:defRPr sz="2160">
                <a:solidFill>
                  <a:srgbClr val="FFFFFF"/>
                </a:solidFill>
              </a:defRPr>
            </a:pPr>
            <a:r>
              <a:t>Short texts lack context</a:t>
            </a:r>
          </a:p>
          <a:p>
            <a:pPr>
              <a:defRPr sz="2160">
                <a:solidFill>
                  <a:srgbClr val="FFFFFF"/>
                </a:solidFill>
              </a:defRPr>
            </a:pPr>
            <a:r>
              <a:t>No reliable Kenyan tool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E1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FFD700"/>
                </a:solidFill>
              </a:rPr>
              <a:t>Objectives</a:t>
            </a:r>
            <a:endParaRPr sz="3600" b="1">
              <a:solidFill>
                <a:srgbClr val="FFD700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160">
                <a:solidFill>
                  <a:srgbClr val="FFFFFF"/>
                </a:solidFill>
              </a:defRPr>
            </a:pPr>
            <a:r>
              <a:t>Detect language from short text</a:t>
            </a:r>
          </a:p>
          <a:p>
            <a:pPr>
              <a:defRPr sz="2160">
                <a:solidFill>
                  <a:srgbClr val="FFFFFF"/>
                </a:solidFill>
              </a:defRPr>
            </a:pPr>
            <a:r>
              <a:t>Languages:</a:t>
            </a:r>
          </a:p>
          <a:p>
            <a:pPr>
              <a:defRPr sz="2160">
                <a:solidFill>
                  <a:srgbClr val="FFFFFF"/>
                </a:solidFill>
              </a:defRPr>
            </a:pPr>
            <a:r>
              <a:t>Swahili</a:t>
            </a:r>
          </a:p>
          <a:p>
            <a:pPr>
              <a:defRPr sz="2160">
                <a:solidFill>
                  <a:srgbClr val="FFFFFF"/>
                </a:solidFill>
              </a:defRPr>
            </a:pPr>
            <a:r>
              <a:t>English</a:t>
            </a:r>
          </a:p>
          <a:p>
            <a:pPr>
              <a:defRPr sz="2160">
                <a:solidFill>
                  <a:srgbClr val="FFFFFF"/>
                </a:solidFill>
              </a:defRPr>
            </a:pPr>
            <a:r>
              <a:t>Sheng</a:t>
            </a:r>
          </a:p>
          <a:p>
            <a:pPr>
              <a:defRPr sz="2160">
                <a:solidFill>
                  <a:srgbClr val="FFFFFF"/>
                </a:solidFill>
              </a:defRPr>
            </a:pPr>
            <a:r>
              <a:t>Luo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E1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FFD700"/>
                </a:solidFill>
              </a:rPr>
              <a:t>System Overview</a:t>
            </a:r>
            <a:endParaRPr sz="3600" b="1">
              <a:solidFill>
                <a:srgbClr val="FFD700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160">
                <a:solidFill>
                  <a:srgbClr val="FFFFFF"/>
                </a:solidFill>
              </a:defRPr>
            </a:pPr>
            <a:r>
              <a:t>Input → Preprocessing → Features → Model → Output</a:t>
            </a:r>
          </a:p>
          <a:p>
            <a:pPr>
              <a:defRPr sz="2160">
                <a:solidFill>
                  <a:srgbClr val="FFFFFF"/>
                </a:solidFill>
              </a:defRPr>
            </a:pPr>
            <a:r>
              <a:t>Example: Wacha tuende base → Sheng</a:t>
            </a:r>
          </a:p>
          <a:p>
            <a:pPr>
              <a:defRPr sz="2160">
                <a:solidFill>
                  <a:srgbClr val="FFFFFF"/>
                </a:solidFill>
              </a:defRPr>
            </a:pPr>
            <a:r>
              <a:t>Example: An gi tich matek → Luo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E1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FFD700"/>
                </a:solidFill>
              </a:rPr>
              <a:t>Data Collection</a:t>
            </a:r>
            <a:endParaRPr sz="3600" b="1">
              <a:solidFill>
                <a:srgbClr val="FFD700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7122795" cy="10325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lang="en-US" altLang="en-US">
                <a:solidFill>
                  <a:schemeClr val="bg1"/>
                </a:solidFill>
              </a:rPr>
              <a:t>Swahili (60), English (64), Sheng (60), Luo (68). The file shows "252 samples</a:t>
            </a:r>
            <a:endParaRPr>
              <a:solidFill>
                <a:schemeClr val="bg1"/>
              </a:solidFill>
            </a:endParaRPr>
          </a:p>
          <a:p>
            <a:pPr algn="l">
              <a:defRPr sz="2160">
                <a:solidFill>
                  <a:srgbClr val="FFFFFF"/>
                </a:solidFill>
              </a:defRPr>
            </a:pPr>
            <a:r>
              <a:t>Sources: social media, SMS, articles</a:t>
            </a:r>
          </a:p>
          <a:p>
            <a:pPr algn="l">
              <a:defRPr sz="2160">
                <a:solidFill>
                  <a:srgbClr val="FFFFFF"/>
                </a:solidFill>
              </a:defRPr>
            </a:pPr>
            <a:r>
              <a:t>Short text samples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E1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FFD700"/>
                </a:solidFill>
              </a:rPr>
              <a:t>Data Preprocessing</a:t>
            </a:r>
            <a:endParaRPr sz="3600" b="1">
              <a:solidFill>
                <a:srgbClr val="FFD700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160">
                <a:solidFill>
                  <a:srgbClr val="FFFFFF"/>
                </a:solidFill>
              </a:defRPr>
            </a:pPr>
            <a:r>
              <a:t>Lowercasing</a:t>
            </a:r>
          </a:p>
          <a:p>
            <a:pPr>
              <a:defRPr sz="2160">
                <a:solidFill>
                  <a:srgbClr val="FFFFFF"/>
                </a:solidFill>
              </a:defRPr>
            </a:pPr>
            <a:r>
              <a:t>Remove punctuation</a:t>
            </a:r>
          </a:p>
          <a:p>
            <a:pPr>
              <a:defRPr sz="2160">
                <a:solidFill>
                  <a:srgbClr val="FFFFFF"/>
                </a:solidFill>
              </a:defRPr>
            </a:pPr>
            <a:r>
              <a:t>Tokenization</a:t>
            </a:r>
          </a:p>
          <a:p>
            <a:pPr>
              <a:defRPr sz="2160">
                <a:solidFill>
                  <a:srgbClr val="FFFFFF"/>
                </a:solidFill>
              </a:defRPr>
            </a:pPr>
            <a:r>
              <a:t>Remove spaces</a:t>
            </a:r>
          </a:p>
          <a:p>
            <a:pPr>
              <a:defRPr sz="2160">
                <a:solidFill>
                  <a:srgbClr val="FFFFFF"/>
                </a:solidFill>
              </a:defRPr>
            </a:pPr>
            <a:r>
              <a:t>Sheng normalization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E1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FFD700"/>
                </a:solidFill>
              </a:rPr>
              <a:t>Feature Extraction</a:t>
            </a:r>
            <a:endParaRPr sz="3600" b="1">
              <a:solidFill>
                <a:srgbClr val="FFD700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160">
                <a:solidFill>
                  <a:srgbClr val="FFFFFF"/>
                </a:solidFill>
              </a:defRPr>
            </a:pPr>
            <a:r>
              <a:t>Bag of Words</a:t>
            </a:r>
          </a:p>
          <a:p>
            <a:pPr>
              <a:defRPr sz="2160">
                <a:solidFill>
                  <a:srgbClr val="FFFFFF"/>
                </a:solidFill>
              </a:defRPr>
            </a:pPr>
            <a:r>
              <a:t>TF-IDF</a:t>
            </a:r>
          </a:p>
          <a:p>
            <a:pPr>
              <a:defRPr sz="2160">
                <a:solidFill>
                  <a:srgbClr val="FFFFFF"/>
                </a:solidFill>
              </a:defRPr>
            </a:pPr>
            <a:r>
              <a:t>Character N-grams (high accuracy for short text classification)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E1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FFD700"/>
                </a:solidFill>
              </a:rPr>
              <a:t>Model Training</a:t>
            </a:r>
            <a:endParaRPr sz="3600" b="1">
              <a:solidFill>
                <a:srgbClr val="FFD700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160">
                <a:solidFill>
                  <a:srgbClr val="FFFFFF"/>
                </a:solidFill>
              </a:defRPr>
            </a:pPr>
            <a:r>
              <a:t>80/20 split</a:t>
            </a:r>
          </a:p>
          <a:p>
            <a:pPr>
              <a:defRPr sz="2160">
                <a:solidFill>
                  <a:srgbClr val="FFFFFF"/>
                </a:solidFill>
              </a:defRPr>
            </a:pPr>
            <a:r>
              <a:t>Naive Bayes</a:t>
            </a:r>
          </a:p>
          <a:p>
            <a:pPr>
              <a:defRPr sz="2160">
                <a:solidFill>
                  <a:srgbClr val="FFFFFF"/>
                </a:solidFill>
              </a:defRPr>
            </a:pPr>
            <a:r>
              <a:t>Logistic Regression</a:t>
            </a:r>
          </a:p>
          <a:p>
            <a:pPr>
              <a:defRPr sz="2160">
                <a:solidFill>
                  <a:srgbClr val="FFFFFF"/>
                </a:solidFill>
              </a:defRPr>
            </a:pPr>
            <a:r>
              <a:t>SVM</a:t>
            </a:r>
          </a:p>
          <a:p>
            <a:pPr>
              <a:defRPr sz="2160">
                <a:solidFill>
                  <a:srgbClr val="FFFFFF"/>
                </a:solidFill>
              </a:defRPr>
            </a:pPr>
            <a:r>
              <a:t>Decision Tree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E1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FFD700"/>
                </a:solidFill>
              </a:rPr>
              <a:t>Model Evaluation</a:t>
            </a:r>
            <a:endParaRPr sz="3600" b="1">
              <a:solidFill>
                <a:srgbClr val="FFD700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160">
                <a:solidFill>
                  <a:srgbClr val="FFFFFF"/>
                </a:solidFill>
              </a:defRPr>
            </a:pPr>
            <a:r>
              <a:t>Accuracy</a:t>
            </a:r>
          </a:p>
          <a:p>
            <a:pPr>
              <a:defRPr sz="2160">
                <a:solidFill>
                  <a:srgbClr val="FFFFFF"/>
                </a:solidFill>
              </a:defRPr>
            </a:pPr>
            <a:r>
              <a:t>Precision</a:t>
            </a:r>
          </a:p>
          <a:p>
            <a:pPr>
              <a:defRPr sz="2160">
                <a:solidFill>
                  <a:srgbClr val="FFFFFF"/>
                </a:solidFill>
              </a:defRPr>
            </a:pPr>
            <a:r>
              <a:t>Recall</a:t>
            </a:r>
          </a:p>
          <a:p>
            <a:pPr>
              <a:defRPr sz="2160">
                <a:solidFill>
                  <a:srgbClr val="FFFFFF"/>
                </a:solidFill>
              </a:defRPr>
            </a:pPr>
            <a:r>
              <a:t>F1-score</a:t>
            </a:r>
          </a:p>
          <a:p>
            <a:pPr>
              <a:defRPr sz="2160">
                <a:solidFill>
                  <a:srgbClr val="FFFFFF"/>
                </a:solidFill>
              </a:defRPr>
            </a:pPr>
            <a:r>
              <a:t>Confusion Matrix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E1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FFD700"/>
                </a:solidFill>
              </a:rPr>
              <a:t>System Deployment</a:t>
            </a:r>
            <a:endParaRPr sz="3600" b="1">
              <a:solidFill>
                <a:srgbClr val="FFD700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160">
                <a:solidFill>
                  <a:srgbClr val="FFFFFF"/>
                </a:solidFill>
              </a:defRPr>
            </a:pPr>
            <a:r>
              <a:t>Streamlit app</a:t>
            </a:r>
          </a:p>
          <a:p>
            <a:pPr>
              <a:defRPr sz="2160">
                <a:solidFill>
                  <a:srgbClr val="FFFFFF"/>
                </a:solidFill>
              </a:defRPr>
            </a:pPr>
            <a:r>
              <a:t>Runs on localhost in browser</a:t>
            </a:r>
          </a:p>
          <a:p>
            <a:pPr>
              <a:defRPr sz="2160">
                <a:solidFill>
                  <a:srgbClr val="FFFFFF"/>
                </a:solidFill>
              </a:defRPr>
            </a:pPr>
            <a:r>
              <a:t>User inputs text → gets prediction</a:t>
            </a:r>
          </a:p>
          <a:p>
            <a:pPr>
              <a:defRPr sz="2160">
                <a:solidFill>
                  <a:srgbClr val="FFFFFF"/>
                </a:solidFill>
              </a:defRPr>
            </a:pPr>
            <a:r>
              <a:t>Future: deploy online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E1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FFD700"/>
                </a:solidFill>
              </a:rPr>
              <a:t>Tools &amp; Technologies</a:t>
            </a:r>
            <a:endParaRPr sz="3600" b="1">
              <a:solidFill>
                <a:srgbClr val="FFD700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160">
                <a:solidFill>
                  <a:srgbClr val="FFFFFF"/>
                </a:solidFill>
              </a:defRPr>
            </a:pPr>
            <a:r>
              <a:t>Python</a:t>
            </a:r>
          </a:p>
          <a:p>
            <a:pPr>
              <a:defRPr sz="2160">
                <a:solidFill>
                  <a:srgbClr val="FFFFFF"/>
                </a:solidFill>
              </a:defRPr>
            </a:pPr>
            <a:r>
              <a:t>Scikit-learn</a:t>
            </a:r>
          </a:p>
          <a:p>
            <a:pPr>
              <a:defRPr sz="2160">
                <a:solidFill>
                  <a:srgbClr val="FFFFFF"/>
                </a:solidFill>
              </a:defRPr>
            </a:pPr>
            <a:r>
              <a:t>Pandas &amp; NumPy</a:t>
            </a:r>
          </a:p>
          <a:p>
            <a:pPr>
              <a:defRPr sz="2160">
                <a:solidFill>
                  <a:srgbClr val="FFFFFF"/>
                </a:solidFill>
              </a:defRPr>
            </a:pPr>
            <a:r>
              <a:t>NLTK / SpaCy</a:t>
            </a:r>
          </a:p>
          <a:p>
            <a:pPr>
              <a:defRPr sz="2160">
                <a:solidFill>
                  <a:srgbClr val="FFFFFF"/>
                </a:solidFill>
              </a:defRPr>
            </a:pPr>
            <a:r>
              <a:t>Matplotlib / Seaborn</a:t>
            </a:r>
          </a:p>
          <a:p>
            <a:pPr>
              <a:defRPr sz="2160">
                <a:solidFill>
                  <a:srgbClr val="FFFFFF"/>
                </a:solidFill>
              </a:defRPr>
            </a:pPr>
            <a:r>
              <a:t>Streamlit</a:t>
            </a:r>
          </a:p>
          <a:p>
            <a:pPr>
              <a:defRPr sz="2160">
                <a:solidFill>
                  <a:srgbClr val="FFFFFF"/>
                </a:solidFill>
              </a:defRPr>
            </a:pPr>
            <a:r>
              <a:t>VS Code &amp; GitHub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E1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FFD700"/>
                </a:solidFill>
              </a:rPr>
              <a:t>Expected Output</a:t>
            </a:r>
            <a:endParaRPr sz="3600" b="1">
              <a:solidFill>
                <a:srgbClr val="FFD700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160">
                <a:solidFill>
                  <a:srgbClr val="FFFFFF"/>
                </a:solidFill>
              </a:defRPr>
            </a:pPr>
            <a:r>
              <a:t>Niko soko leo → Swahili</a:t>
            </a:r>
          </a:p>
          <a:p>
            <a:pPr>
              <a:defRPr sz="2160">
                <a:solidFill>
                  <a:srgbClr val="FFFFFF"/>
                </a:solidFill>
              </a:defRPr>
            </a:pPr>
            <a:r>
              <a:t>Wacha tuende base → Sheng</a:t>
            </a:r>
          </a:p>
          <a:p>
            <a:pPr>
              <a:defRPr sz="2160">
                <a:solidFill>
                  <a:srgbClr val="FFFFFF"/>
                </a:solidFill>
              </a:defRPr>
            </a:pPr>
            <a:r>
              <a:t>An gi tich matek → Luo</a:t>
            </a:r>
          </a:p>
          <a:p>
            <a:pPr>
              <a:defRPr sz="2160">
                <a:solidFill>
                  <a:srgbClr val="FFFFFF"/>
                </a:solidFill>
              </a:defRPr>
            </a:pPr>
            <a:r>
              <a:t>Good morning → English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E1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FFD700"/>
                </a:solidFill>
              </a:rPr>
              <a:t>Challenges</a:t>
            </a:r>
            <a:endParaRPr sz="3600" b="1">
              <a:solidFill>
                <a:srgbClr val="FFD700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160">
                <a:solidFill>
                  <a:srgbClr val="FFFFFF"/>
                </a:solidFill>
              </a:defRPr>
            </a:pPr>
            <a:r>
              <a:t>Sheng evolves quickly</a:t>
            </a:r>
          </a:p>
          <a:p>
            <a:pPr>
              <a:defRPr sz="2160">
                <a:solidFill>
                  <a:srgbClr val="FFFFFF"/>
                </a:solidFill>
              </a:defRPr>
            </a:pPr>
            <a:r>
              <a:t>Limited Luo data</a:t>
            </a:r>
          </a:p>
          <a:p>
            <a:pPr>
              <a:defRPr sz="2160">
                <a:solidFill>
                  <a:srgbClr val="FFFFFF"/>
                </a:solidFill>
              </a:defRPr>
            </a:pPr>
            <a:r>
              <a:t>Short text ambiguity</a:t>
            </a:r>
          </a:p>
          <a:p>
            <a:pPr>
              <a:defRPr sz="2160">
                <a:solidFill>
                  <a:srgbClr val="FFFFFF"/>
                </a:solidFill>
              </a:defRPr>
            </a:pPr>
            <a:r>
              <a:t>Code-mixing</a:t>
            </a:r>
          </a:p>
          <a:p>
            <a:pPr>
              <a:defRPr sz="2160">
                <a:solidFill>
                  <a:srgbClr val="FFFFFF"/>
                </a:solidFill>
              </a:defRPr>
            </a:pPr>
            <a:r>
              <a:t>Data collection effort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E1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FFD700"/>
                </a:solidFill>
              </a:rPr>
              <a:t>Conclusion</a:t>
            </a:r>
            <a:endParaRPr sz="3600" b="1">
              <a:solidFill>
                <a:srgbClr val="FFD700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160">
                <a:solidFill>
                  <a:srgbClr val="FFFFFF"/>
                </a:solidFill>
              </a:defRPr>
            </a:pPr>
            <a:r>
              <a:t>Language detection system built</a:t>
            </a:r>
          </a:p>
          <a:p>
            <a:pPr>
              <a:defRPr sz="2160">
                <a:solidFill>
                  <a:srgbClr val="FFFFFF"/>
                </a:solidFill>
              </a:defRPr>
            </a:pPr>
            <a:r>
              <a:t>Solves Kenyan NLP gap</a:t>
            </a:r>
          </a:p>
          <a:p>
            <a:pPr>
              <a:defRPr sz="2160">
                <a:solidFill>
                  <a:srgbClr val="FFFFFF"/>
                </a:solidFill>
              </a:defRPr>
            </a:pPr>
            <a:r>
              <a:t>Useful for chatbots &amp; social media</a:t>
            </a:r>
          </a:p>
          <a:p>
            <a:pPr>
              <a:defRPr sz="2160">
                <a:solidFill>
                  <a:srgbClr val="FFFFFF"/>
                </a:solidFill>
              </a:defRPr>
            </a:pPr>
            <a:r>
              <a:t>Deployed using Streamlit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E1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FFD700"/>
                </a:solidFill>
              </a:rPr>
              <a:t>Future Work</a:t>
            </a:r>
            <a:endParaRPr sz="3600" b="1">
              <a:solidFill>
                <a:srgbClr val="FFD700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160">
                <a:solidFill>
                  <a:srgbClr val="FFFFFF"/>
                </a:solidFill>
              </a:defRPr>
            </a:pPr>
            <a:r>
              <a:t>Handle code-mixing</a:t>
            </a:r>
          </a:p>
          <a:p>
            <a:pPr>
              <a:defRPr sz="2160">
                <a:solidFill>
                  <a:srgbClr val="FFFFFF"/>
                </a:solidFill>
              </a:defRPr>
            </a:pPr>
            <a:r>
              <a:t>Add more languages</a:t>
            </a:r>
          </a:p>
          <a:p>
            <a:pPr>
              <a:defRPr sz="2160">
                <a:solidFill>
                  <a:srgbClr val="FFFFFF"/>
                </a:solidFill>
              </a:defRPr>
            </a:pPr>
            <a:r>
              <a:t>Use deep learning</a:t>
            </a:r>
          </a:p>
          <a:p>
            <a:pPr>
              <a:defRPr sz="2160">
                <a:solidFill>
                  <a:srgbClr val="FFFFFF"/>
                </a:solidFill>
              </a:defRPr>
            </a:pPr>
            <a:r>
              <a:t>Deploy online</a:t>
            </a:r>
          </a:p>
          <a:p>
            <a:pPr>
              <a:defRPr sz="2160">
                <a:solidFill>
                  <a:srgbClr val="FFFFFF"/>
                </a:solidFill>
              </a:defRPr>
            </a:pPr>
            <a:r>
              <a:t>Expand dataset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1790</Words>
  <Application>WPS Presentation</Application>
  <PresentationFormat>On-screen Show (4:3)</PresentationFormat>
  <Paragraphs>122</Paragraphs>
  <Slides>16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4" baseType="lpstr">
      <vt:lpstr>Arial</vt:lpstr>
      <vt:lpstr>SimSun</vt:lpstr>
      <vt:lpstr>Wingdings</vt:lpstr>
      <vt:lpstr>Arial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user</cp:lastModifiedBy>
  <cp:revision>3</cp:revision>
  <dcterms:created xsi:type="dcterms:W3CDTF">2013-01-27T09:14:00Z</dcterms:created>
  <dcterms:modified xsi:type="dcterms:W3CDTF">2026-03-31T06:17:02Z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62C0B1189EA44730A775F32D36DF6069_13</vt:lpwstr>
  </property>
  <property fmtid="{D5CDD505-2E9C-101B-9397-08002B2CF9AE}" pid="3" name="KSOProductBuildVer">
    <vt:lpwstr>1033-12.2.0.23196</vt:lpwstr>
  </property>
</Properties>
</file>